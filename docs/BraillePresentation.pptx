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teaches Bangla Braille using a small neural network that runs entirely offline on a four-dollar microcontroller. The whole pipeline is built: a simulation that collects real learner data, a training pipeline, and firmware. What remains is collecting data from real learners and assembling the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in one view. Five stages: a web simulation collects real learner data, Supabase stores it, a tiny model is trained on it, that model runs offline on an ESP32, and a mobile app shows teachers the results. Three stages are built and tested today; the device and the app are designed but not yet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one is a measuring instrument, not a toy. It teaches Braille in the browser and records 14 numbers for every single attempt. Because no hardware is needed, data collection can start weeks before any component arrives — and the same rule engine here is generated into the firmware, so the two can never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14 inputs and the 2 outputs. The important design point is on the left: there is no "is correct" input. The two streaks are read after scoring, so correctness is already implied by them. That is what lets the network reproduce every rule the engine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training set is built. The order is deliberate: collect real data first, measure its timing distributions, then generate synthetic data fitted to those measurements. Generating synthetic data first would produce rows fitted to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itself. 1,161 parameters, 5,928 bytes after quantization. The amber band at the bottom is the honest framing: the labels come from a hand-written rule engine, so the network learns to reproduce that engine at 96.7 per cent. That is a real achievement in compression, not autonomous discovery of teaching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it fit? Comfortably. 13.8 KB of 520 KB — under three per cent of the memory. Inference is under a millisecond. And it runs with the radio switched off, so the device needs no internet, costs nothing to run, and keeps every learner record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automated steps from CSV to a flashed microcontroller, with no hand-copied numbers. Two safeguards matter: golden test vectors are replayed on the device at boot, and the rules exist in one place then generate into three languages, proven equal across 3,000 test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hardware. An ESP32 with a speaker, six buttons, six vibration motors and an SD card. The two red and amber boxes are the failure modes that most often kill a build like this: an under-powered supply that reboots the board mid-session, and driving inductive motors without flyback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student actually experiences. The device speaks a letter, they feel the raised reference, they press the dots they believe are right. If wrong, the correct dots buzz one at a time — that is the core teaching mechanism, letting a blind learner check their own answer by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decisions the system can make, and the exact rule that triggers each one. Note the two steps at the bottom: the rules are written first from teaching principles, and the network is then trained to reproduce them small enough to run on the microcontroller.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planned teacher app. A teacher does not want raw rows — they want to know who is improving, which letters are failing, and what to do next. The data needs no new pipeline: it comes from the SD card or the same database the web app already writes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The software is built and tested. The Braille data is partly verified. Real learner data, the hardware and the app have not been started. The critical path is data collection, because it needs calendar time — learners must practise on different days — and no amount of effort compresses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limitations belong in the presentation, not hidden in an appendix. An examiner who finds them missing will assume they were concealed. Stated up front, they show the project is understood rather than oversold. Each one has a clear route to being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point: data collection cannot be rushed at the end. It needs learners practising across multiple days, so it must start immediately and run while the hardware is being built. Everything in the lower half can happen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 Id="rId4" Type="http://schemas.openxmlformats.org/officeDocument/2006/relationships/image" Target="../media/01_system_overview.svg"/></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02_phase1_simulation.sv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03_features_and_labels.sv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04_data_pipeline.sv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05_model_architecture.sv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06_esp32_fit.sv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07_training_to_deployment.sv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08_hardware_architecture.sv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image" Target="../media/09_classroom_interaction.sv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10_teaching_actions.sv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11_teacher_mobile_app.sv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12_status_and_roadmap.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417320"/>
            <a:ext cx="10515600" cy="603504"/>
          </a:xfrm>
          <a:prstGeom prst="rect">
            <a:avLst/>
          </a:prstGeom>
          <a:noFill/>
          <a:ln/>
        </p:spPr>
        <p:txBody>
          <a:bodyPr wrap="square" lIns="0" tIns="0" rIns="0" bIns="0" rtlCol="0" anchor="ctr"/>
          <a:lstStyle/>
          <a:p>
            <a:pPr indent="0" marL="0">
              <a:buNone/>
            </a:pPr>
            <a:r>
              <a:rPr lang="en-US" sz="4000" dirty="0">
                <a:solidFill>
                  <a:srgbClr val="6B7280"/>
                </a:solidFill>
                <a:latin typeface="Arial" pitchFamily="34" charset="0"/>
                <a:ea typeface="Arial" pitchFamily="34" charset="-122"/>
                <a:cs typeface="Arial" pitchFamily="34" charset="-120"/>
              </a:rPr>
              <a:t>AI-Assisted</a:t>
            </a:r>
            <a:endParaRPr lang="en-US" sz="4000" dirty="0"/>
          </a:p>
        </p:txBody>
      </p:sp>
      <p:sp>
        <p:nvSpPr>
          <p:cNvPr id="3" name="Text 1"/>
          <p:cNvSpPr/>
          <p:nvPr/>
        </p:nvSpPr>
        <p:spPr>
          <a:xfrm>
            <a:off x="822960" y="2057400"/>
            <a:ext cx="10515600" cy="868680"/>
          </a:xfrm>
          <a:prstGeom prst="rect">
            <a:avLst/>
          </a:prstGeom>
          <a:noFill/>
          <a:ln/>
        </p:spPr>
        <p:txBody>
          <a:bodyPr wrap="square" lIns="0" tIns="0" rIns="0" bIns="0" rtlCol="0" anchor="ctr"/>
          <a:lstStyle/>
          <a:p>
            <a:pPr indent="0" marL="0">
              <a:buNone/>
            </a:pPr>
            <a:r>
              <a:rPr lang="en-US" sz="5400" b="1" dirty="0">
                <a:solidFill>
                  <a:srgbClr val="111827"/>
                </a:solidFill>
                <a:latin typeface="Arial" pitchFamily="34" charset="0"/>
                <a:ea typeface="Arial" pitchFamily="34" charset="-122"/>
                <a:cs typeface="Arial" pitchFamily="34" charset="-120"/>
              </a:rPr>
              <a:t>Bangla Braille Tutor</a:t>
            </a:r>
            <a:endParaRPr lang="en-US" sz="5400" dirty="0"/>
          </a:p>
        </p:txBody>
      </p:sp>
      <p:sp>
        <p:nvSpPr>
          <p:cNvPr id="4" name="Text 2"/>
          <p:cNvSpPr/>
          <p:nvPr/>
        </p:nvSpPr>
        <p:spPr>
          <a:xfrm>
            <a:off x="822960" y="3063240"/>
            <a:ext cx="10515600" cy="457200"/>
          </a:xfrm>
          <a:prstGeom prst="rect">
            <a:avLst/>
          </a:prstGeom>
          <a:noFill/>
          <a:ln/>
        </p:spPr>
        <p:txBody>
          <a:bodyPr wrap="square" lIns="0" tIns="0" rIns="0" bIns="0" rtlCol="0" anchor="ctr"/>
          <a:lstStyle/>
          <a:p>
            <a:pPr indent="0" marL="0">
              <a:buNone/>
            </a:pPr>
            <a:r>
              <a:rPr lang="en-US" sz="1800" dirty="0">
                <a:solidFill>
                  <a:srgbClr val="6B7280"/>
                </a:solidFill>
                <a:latin typeface="Arial" pitchFamily="34" charset="0"/>
                <a:ea typeface="Arial" pitchFamily="34" charset="-122"/>
                <a:cs typeface="Arial" pitchFamily="34" charset="-120"/>
              </a:rPr>
              <a:t>A TinyML system that teaches Braille and runs completely offline on a microcontroller</a:t>
            </a:r>
            <a:endParaRPr lang="en-US" sz="1800" dirty="0"/>
          </a:p>
        </p:txBody>
      </p:sp>
      <p:sp>
        <p:nvSpPr>
          <p:cNvPr id="5" name="Shape 3"/>
          <p:cNvSpPr/>
          <p:nvPr/>
        </p:nvSpPr>
        <p:spPr>
          <a:xfrm>
            <a:off x="822960" y="3931920"/>
            <a:ext cx="2468880" cy="1234440"/>
          </a:xfrm>
          <a:prstGeom prst="roundRect">
            <a:avLst>
              <a:gd name="adj" fmla="val 7407"/>
            </a:avLst>
          </a:prstGeom>
          <a:solidFill>
            <a:srgbClr val="FFFFFF"/>
          </a:solidFill>
          <a:ln w="19050">
            <a:solidFill>
              <a:srgbClr val="0D9488"/>
            </a:solidFill>
            <a:prstDash val="solid"/>
          </a:ln>
        </p:spPr>
      </p:sp>
      <p:sp>
        <p:nvSpPr>
          <p:cNvPr id="6" name="Text 4"/>
          <p:cNvSpPr/>
          <p:nvPr/>
        </p:nvSpPr>
        <p:spPr>
          <a:xfrm>
            <a:off x="960120" y="4114800"/>
            <a:ext cx="2194560" cy="457200"/>
          </a:xfrm>
          <a:prstGeom prst="rect">
            <a:avLst/>
          </a:prstGeom>
          <a:noFill/>
          <a:ln/>
        </p:spPr>
        <p:txBody>
          <a:bodyPr wrap="square" lIns="0" tIns="0" rIns="0" bIns="0" rtlCol="0" anchor="ctr"/>
          <a:lstStyle/>
          <a:p>
            <a:pPr indent="0" marL="0">
              <a:buNone/>
            </a:pPr>
            <a:r>
              <a:rPr lang="en-US" sz="2400" b="1" dirty="0">
                <a:solidFill>
                  <a:srgbClr val="111827"/>
                </a:solidFill>
                <a:latin typeface="Arial" pitchFamily="34" charset="0"/>
                <a:ea typeface="Arial" pitchFamily="34" charset="-122"/>
                <a:cs typeface="Arial" pitchFamily="34" charset="-120"/>
              </a:rPr>
              <a:t>1,161</a:t>
            </a:r>
            <a:endParaRPr lang="en-US" sz="2400" dirty="0"/>
          </a:p>
        </p:txBody>
      </p:sp>
      <p:sp>
        <p:nvSpPr>
          <p:cNvPr id="7" name="Text 5"/>
          <p:cNvSpPr/>
          <p:nvPr/>
        </p:nvSpPr>
        <p:spPr>
          <a:xfrm>
            <a:off x="960120" y="4590288"/>
            <a:ext cx="2194560" cy="32004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model parameters</a:t>
            </a:r>
            <a:endParaRPr lang="en-US" sz="1200" dirty="0"/>
          </a:p>
        </p:txBody>
      </p:sp>
      <p:sp>
        <p:nvSpPr>
          <p:cNvPr id="8" name="Shape 6"/>
          <p:cNvSpPr/>
          <p:nvPr/>
        </p:nvSpPr>
        <p:spPr>
          <a:xfrm>
            <a:off x="3520440" y="3931920"/>
            <a:ext cx="2468880" cy="1234440"/>
          </a:xfrm>
          <a:prstGeom prst="roundRect">
            <a:avLst>
              <a:gd name="adj" fmla="val 7407"/>
            </a:avLst>
          </a:prstGeom>
          <a:solidFill>
            <a:srgbClr val="FFFFFF"/>
          </a:solidFill>
          <a:ln w="19050">
            <a:solidFill>
              <a:srgbClr val="0D9488"/>
            </a:solidFill>
            <a:prstDash val="solid"/>
          </a:ln>
        </p:spPr>
      </p:sp>
      <p:sp>
        <p:nvSpPr>
          <p:cNvPr id="9" name="Text 7"/>
          <p:cNvSpPr/>
          <p:nvPr/>
        </p:nvSpPr>
        <p:spPr>
          <a:xfrm>
            <a:off x="3657600" y="4114800"/>
            <a:ext cx="2194560" cy="457200"/>
          </a:xfrm>
          <a:prstGeom prst="rect">
            <a:avLst/>
          </a:prstGeom>
          <a:noFill/>
          <a:ln/>
        </p:spPr>
        <p:txBody>
          <a:bodyPr wrap="square" lIns="0" tIns="0" rIns="0" bIns="0" rtlCol="0" anchor="ctr"/>
          <a:lstStyle/>
          <a:p>
            <a:pPr indent="0" marL="0">
              <a:buNone/>
            </a:pPr>
            <a:r>
              <a:rPr lang="en-US" sz="2400" b="1" dirty="0">
                <a:solidFill>
                  <a:srgbClr val="111827"/>
                </a:solidFill>
                <a:latin typeface="Arial" pitchFamily="34" charset="0"/>
                <a:ea typeface="Arial" pitchFamily="34" charset="-122"/>
                <a:cs typeface="Arial" pitchFamily="34" charset="-120"/>
              </a:rPr>
              <a:t>5,928 B</a:t>
            </a:r>
            <a:endParaRPr lang="en-US" sz="2400" dirty="0"/>
          </a:p>
        </p:txBody>
      </p:sp>
      <p:sp>
        <p:nvSpPr>
          <p:cNvPr id="10" name="Text 8"/>
          <p:cNvSpPr/>
          <p:nvPr/>
        </p:nvSpPr>
        <p:spPr>
          <a:xfrm>
            <a:off x="3657600" y="4590288"/>
            <a:ext cx="2194560" cy="32004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quantized size</a:t>
            </a:r>
            <a:endParaRPr lang="en-US" sz="1200" dirty="0"/>
          </a:p>
        </p:txBody>
      </p:sp>
      <p:sp>
        <p:nvSpPr>
          <p:cNvPr id="11" name="Shape 9"/>
          <p:cNvSpPr/>
          <p:nvPr/>
        </p:nvSpPr>
        <p:spPr>
          <a:xfrm>
            <a:off x="6217920" y="3931920"/>
            <a:ext cx="2468880" cy="1234440"/>
          </a:xfrm>
          <a:prstGeom prst="roundRect">
            <a:avLst>
              <a:gd name="adj" fmla="val 7407"/>
            </a:avLst>
          </a:prstGeom>
          <a:solidFill>
            <a:srgbClr val="FFFFFF"/>
          </a:solidFill>
          <a:ln w="19050">
            <a:solidFill>
              <a:srgbClr val="EA580C"/>
            </a:solidFill>
            <a:prstDash val="solid"/>
          </a:ln>
        </p:spPr>
      </p:sp>
      <p:sp>
        <p:nvSpPr>
          <p:cNvPr id="12" name="Text 10"/>
          <p:cNvSpPr/>
          <p:nvPr/>
        </p:nvSpPr>
        <p:spPr>
          <a:xfrm>
            <a:off x="6355080" y="4114800"/>
            <a:ext cx="2194560" cy="457200"/>
          </a:xfrm>
          <a:prstGeom prst="rect">
            <a:avLst/>
          </a:prstGeom>
          <a:noFill/>
          <a:ln/>
        </p:spPr>
        <p:txBody>
          <a:bodyPr wrap="square" lIns="0" tIns="0" rIns="0" bIns="0" rtlCol="0" anchor="ctr"/>
          <a:lstStyle/>
          <a:p>
            <a:pPr indent="0" marL="0">
              <a:buNone/>
            </a:pPr>
            <a:r>
              <a:rPr lang="en-US" sz="2400" b="1" dirty="0">
                <a:solidFill>
                  <a:srgbClr val="111827"/>
                </a:solidFill>
                <a:latin typeface="Arial" pitchFamily="34" charset="0"/>
                <a:ea typeface="Arial" pitchFamily="34" charset="-122"/>
                <a:cs typeface="Arial" pitchFamily="34" charset="-120"/>
              </a:rPr>
              <a:t>2.7%</a:t>
            </a:r>
            <a:endParaRPr lang="en-US" sz="2400" dirty="0"/>
          </a:p>
        </p:txBody>
      </p:sp>
      <p:sp>
        <p:nvSpPr>
          <p:cNvPr id="13" name="Text 11"/>
          <p:cNvSpPr/>
          <p:nvPr/>
        </p:nvSpPr>
        <p:spPr>
          <a:xfrm>
            <a:off x="6355080" y="4590288"/>
            <a:ext cx="2194560" cy="32004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of ESP32 memory</a:t>
            </a:r>
            <a:endParaRPr lang="en-US" sz="1200" dirty="0"/>
          </a:p>
        </p:txBody>
      </p:sp>
      <p:sp>
        <p:nvSpPr>
          <p:cNvPr id="14" name="Shape 12"/>
          <p:cNvSpPr/>
          <p:nvPr/>
        </p:nvSpPr>
        <p:spPr>
          <a:xfrm>
            <a:off x="8915400" y="3931920"/>
            <a:ext cx="2468880" cy="1234440"/>
          </a:xfrm>
          <a:prstGeom prst="roundRect">
            <a:avLst>
              <a:gd name="adj" fmla="val 7407"/>
            </a:avLst>
          </a:prstGeom>
          <a:solidFill>
            <a:srgbClr val="FFFFFF"/>
          </a:solidFill>
          <a:ln w="19050">
            <a:solidFill>
              <a:srgbClr val="059669"/>
            </a:solidFill>
            <a:prstDash val="solid"/>
          </a:ln>
        </p:spPr>
      </p:sp>
      <p:sp>
        <p:nvSpPr>
          <p:cNvPr id="15" name="Text 13"/>
          <p:cNvSpPr/>
          <p:nvPr/>
        </p:nvSpPr>
        <p:spPr>
          <a:xfrm>
            <a:off x="9052560" y="4114800"/>
            <a:ext cx="2194560" cy="457200"/>
          </a:xfrm>
          <a:prstGeom prst="rect">
            <a:avLst/>
          </a:prstGeom>
          <a:noFill/>
          <a:ln/>
        </p:spPr>
        <p:txBody>
          <a:bodyPr wrap="square" lIns="0" tIns="0" rIns="0" bIns="0" rtlCol="0" anchor="ctr"/>
          <a:lstStyle/>
          <a:p>
            <a:pPr indent="0" marL="0">
              <a:buNone/>
            </a:pPr>
            <a:r>
              <a:rPr lang="en-US" sz="2400" b="1" dirty="0">
                <a:solidFill>
                  <a:srgbClr val="111827"/>
                </a:solidFill>
                <a:latin typeface="Arial" pitchFamily="34" charset="0"/>
                <a:ea typeface="Arial" pitchFamily="34" charset="-122"/>
                <a:cs typeface="Arial" pitchFamily="34" charset="-120"/>
              </a:rPr>
              <a:t>&lt; 1 ms</a:t>
            </a:r>
            <a:endParaRPr lang="en-US" sz="2400" dirty="0"/>
          </a:p>
        </p:txBody>
      </p:sp>
      <p:sp>
        <p:nvSpPr>
          <p:cNvPr id="16" name="Text 14"/>
          <p:cNvSpPr/>
          <p:nvPr/>
        </p:nvSpPr>
        <p:spPr>
          <a:xfrm>
            <a:off x="9052560" y="4590288"/>
            <a:ext cx="2194560" cy="320040"/>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inference, offline</a:t>
            </a:r>
            <a:endParaRPr lang="en-US" sz="1200" dirty="0"/>
          </a:p>
        </p:txBody>
      </p:sp>
      <p:sp>
        <p:nvSpPr>
          <p:cNvPr id="17" name="Text 15"/>
          <p:cNvSpPr/>
          <p:nvPr/>
        </p:nvSpPr>
        <p:spPr>
          <a:xfrm>
            <a:off x="822960" y="5806440"/>
            <a:ext cx="10515600" cy="36576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EEE 416  ·  Department of Electrical and Electronic Engineering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workspace/eee_416/docs/diagrams/01_system_overview.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workspace/eee_416/docs/diagrams/02_phase1_simulation.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workspace/eee_416/docs/diagrams/03_features_and_labels.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workspace/eee_416/docs/diagrams/04_data_pipeline.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workspace/eee_416/docs/diagrams/05_model_architecture.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workspace/eee_416/docs/diagrams/06_esp32_fit.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workspace/eee_416/docs/diagrams/07_training_to_deployment.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workspace/eee_416/docs/diagrams/08_hardware_architecture.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workspace/eee_416/docs/diagrams/09_classroom_interaction.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workspace/eee_416/docs/diagrams/10_teaching_actions.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workspace/eee_416/docs/diagrams/11_teacher_mobile_app.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workspace/eee_416/docs/diagrams/12_status_and_roadmap.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502920"/>
          </a:xfrm>
          <a:prstGeom prst="rect">
            <a:avLst/>
          </a:prstGeom>
          <a:noFill/>
          <a:ln/>
        </p:spPr>
        <p:txBody>
          <a:bodyPr wrap="square" lIns="0" tIns="0" rIns="0" bIns="0" rtlCol="0" anchor="ctr"/>
          <a:lstStyle/>
          <a:p>
            <a:pPr indent="0" marL="0">
              <a:buNone/>
            </a:pPr>
            <a:r>
              <a:rPr lang="en-US" sz="3400" b="1" dirty="0">
                <a:solidFill>
                  <a:srgbClr val="111827"/>
                </a:solidFill>
                <a:latin typeface="Arial" pitchFamily="34" charset="0"/>
                <a:ea typeface="Arial" pitchFamily="34" charset="-122"/>
                <a:cs typeface="Arial" pitchFamily="34" charset="-120"/>
              </a:rPr>
              <a:t>What this project has NOT yet shown</a:t>
            </a:r>
            <a:endParaRPr lang="en-US" sz="3400" dirty="0"/>
          </a:p>
        </p:txBody>
      </p:sp>
      <p:sp>
        <p:nvSpPr>
          <p:cNvPr id="3" name="Text 1"/>
          <p:cNvSpPr/>
          <p:nvPr/>
        </p:nvSpPr>
        <p:spPr>
          <a:xfrm>
            <a:off x="640080" y="987552"/>
            <a:ext cx="10972800" cy="365760"/>
          </a:xfrm>
          <a:prstGeom prst="rect">
            <a:avLst/>
          </a:prstGeom>
          <a:noFill/>
          <a:ln/>
        </p:spPr>
        <p:txBody>
          <a:bodyPr wrap="square" lIns="0" tIns="0" rIns="0" bIns="0" rtlCol="0" anchor="ctr"/>
          <a:lstStyle/>
          <a:p>
            <a:pPr indent="0" marL="0">
              <a:buNone/>
            </a:pPr>
            <a:r>
              <a:rPr lang="en-US" sz="1600" dirty="0">
                <a:solidFill>
                  <a:srgbClr val="6B7280"/>
                </a:solidFill>
                <a:latin typeface="Arial" pitchFamily="34" charset="0"/>
                <a:ea typeface="Arial" pitchFamily="34" charset="-122"/>
                <a:cs typeface="Arial" pitchFamily="34" charset="-120"/>
              </a:rPr>
              <a:t>Stating these plainly is stronger than being asked about them</a:t>
            </a:r>
            <a:endParaRPr lang="en-US" sz="1600" dirty="0"/>
          </a:p>
        </p:txBody>
      </p:sp>
      <p:sp>
        <p:nvSpPr>
          <p:cNvPr id="4" name="Shape 2"/>
          <p:cNvSpPr/>
          <p:nvPr/>
        </p:nvSpPr>
        <p:spPr>
          <a:xfrm>
            <a:off x="640080" y="1572768"/>
            <a:ext cx="10972800" cy="1051560"/>
          </a:xfrm>
          <a:prstGeom prst="roundRect">
            <a:avLst>
              <a:gd name="adj" fmla="val 6957"/>
            </a:avLst>
          </a:prstGeom>
          <a:solidFill>
            <a:srgbClr val="FFFFFF"/>
          </a:solidFill>
          <a:ln w="22225">
            <a:solidFill>
              <a:srgbClr val="DC2626"/>
            </a:solidFill>
            <a:prstDash val="solid"/>
          </a:ln>
        </p:spPr>
      </p:sp>
      <p:sp>
        <p:nvSpPr>
          <p:cNvPr id="5" name="Text 3"/>
          <p:cNvSpPr/>
          <p:nvPr/>
        </p:nvSpPr>
        <p:spPr>
          <a:xfrm>
            <a:off x="868680" y="1691640"/>
            <a:ext cx="10515600" cy="320040"/>
          </a:xfrm>
          <a:prstGeom prst="rect">
            <a:avLst/>
          </a:prstGeom>
          <a:noFill/>
          <a:ln/>
        </p:spPr>
        <p:txBody>
          <a:bodyPr wrap="square" lIns="0" tIns="0" rIns="0" bIns="0" rtlCol="0" anchor="ctr"/>
          <a:lstStyle/>
          <a:p>
            <a:pPr indent="0" marL="0">
              <a:buNone/>
            </a:pPr>
            <a:r>
              <a:rPr lang="en-US" sz="1700" b="1" dirty="0">
                <a:solidFill>
                  <a:srgbClr val="111827"/>
                </a:solidFill>
                <a:latin typeface="Arial" pitchFamily="34" charset="0"/>
                <a:ea typeface="Arial" pitchFamily="34" charset="-122"/>
                <a:cs typeface="Arial" pitchFamily="34" charset="-120"/>
              </a:rPr>
              <a:t>No real learner data yet</a:t>
            </a:r>
            <a:endParaRPr lang="en-US" sz="1700" dirty="0"/>
          </a:p>
        </p:txBody>
      </p:sp>
      <p:sp>
        <p:nvSpPr>
          <p:cNvPr id="6" name="Text 4"/>
          <p:cNvSpPr/>
          <p:nvPr/>
        </p:nvSpPr>
        <p:spPr>
          <a:xfrm>
            <a:off x="868680" y="2029968"/>
            <a:ext cx="10515600" cy="54864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Every accuracy figure comes from a synthetic pipeline test. Those rows were simulated and labelled by the same rule engine the model reproduces, so the numbers are circular.</a:t>
            </a:r>
            <a:endParaRPr lang="en-US" sz="1300" dirty="0"/>
          </a:p>
        </p:txBody>
      </p:sp>
      <p:sp>
        <p:nvSpPr>
          <p:cNvPr id="7" name="Shape 5"/>
          <p:cNvSpPr/>
          <p:nvPr/>
        </p:nvSpPr>
        <p:spPr>
          <a:xfrm>
            <a:off x="640080" y="2807208"/>
            <a:ext cx="10972800" cy="1051560"/>
          </a:xfrm>
          <a:prstGeom prst="roundRect">
            <a:avLst>
              <a:gd name="adj" fmla="val 6957"/>
            </a:avLst>
          </a:prstGeom>
          <a:solidFill>
            <a:srgbClr val="FFFFFF"/>
          </a:solidFill>
          <a:ln w="22225">
            <a:solidFill>
              <a:srgbClr val="D97706"/>
            </a:solidFill>
            <a:prstDash val="solid"/>
          </a:ln>
        </p:spPr>
      </p:sp>
      <p:sp>
        <p:nvSpPr>
          <p:cNvPr id="8" name="Text 6"/>
          <p:cNvSpPr/>
          <p:nvPr/>
        </p:nvSpPr>
        <p:spPr>
          <a:xfrm>
            <a:off x="868680" y="2926080"/>
            <a:ext cx="10515600" cy="320040"/>
          </a:xfrm>
          <a:prstGeom prst="rect">
            <a:avLst/>
          </a:prstGeom>
          <a:noFill/>
          <a:ln/>
        </p:spPr>
        <p:txBody>
          <a:bodyPr wrap="square" lIns="0" tIns="0" rIns="0" bIns="0" rtlCol="0" anchor="ctr"/>
          <a:lstStyle/>
          <a:p>
            <a:pPr indent="0" marL="0">
              <a:buNone/>
            </a:pPr>
            <a:r>
              <a:rPr lang="en-US" sz="1700" b="1" dirty="0">
                <a:solidFill>
                  <a:srgbClr val="111827"/>
                </a:solidFill>
                <a:latin typeface="Arial" pitchFamily="34" charset="0"/>
                <a:ea typeface="Arial" pitchFamily="34" charset="-122"/>
                <a:cs typeface="Arial" pitchFamily="34" charset="-120"/>
              </a:rPr>
              <a:t>Only 11 of 50 characters verified</a:t>
            </a:r>
            <a:endParaRPr lang="en-US" sz="1700" dirty="0"/>
          </a:p>
        </p:txBody>
      </p:sp>
      <p:sp>
        <p:nvSpPr>
          <p:cNvPr id="9" name="Text 7"/>
          <p:cNvSpPr/>
          <p:nvPr/>
        </p:nvSpPr>
        <p:spPr>
          <a:xfrm>
            <a:off x="868680" y="3264408"/>
            <a:ext cx="10515600" cy="54864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The 11 vowels were read from reference images. The 39 consonants are still placeholder patterns. Of 11 vowel guesses, one was wrong — so roughly 3 or 4 consonants are likely wrong too.</a:t>
            </a:r>
            <a:endParaRPr lang="en-US" sz="1300" dirty="0"/>
          </a:p>
        </p:txBody>
      </p:sp>
      <p:sp>
        <p:nvSpPr>
          <p:cNvPr id="10" name="Shape 8"/>
          <p:cNvSpPr/>
          <p:nvPr/>
        </p:nvSpPr>
        <p:spPr>
          <a:xfrm>
            <a:off x="640080" y="4041648"/>
            <a:ext cx="10972800" cy="1051560"/>
          </a:xfrm>
          <a:prstGeom prst="roundRect">
            <a:avLst>
              <a:gd name="adj" fmla="val 6957"/>
            </a:avLst>
          </a:prstGeom>
          <a:solidFill>
            <a:srgbClr val="FFFFFF"/>
          </a:solidFill>
          <a:ln w="22225">
            <a:solidFill>
              <a:srgbClr val="D97706"/>
            </a:solidFill>
            <a:prstDash val="solid"/>
          </a:ln>
        </p:spPr>
      </p:sp>
      <p:sp>
        <p:nvSpPr>
          <p:cNvPr id="11" name="Text 9"/>
          <p:cNvSpPr/>
          <p:nvPr/>
        </p:nvSpPr>
        <p:spPr>
          <a:xfrm>
            <a:off x="868680" y="4160520"/>
            <a:ext cx="10515600" cy="320040"/>
          </a:xfrm>
          <a:prstGeom prst="rect">
            <a:avLst/>
          </a:prstGeom>
          <a:noFill/>
          <a:ln/>
        </p:spPr>
        <p:txBody>
          <a:bodyPr wrap="square" lIns="0" tIns="0" rIns="0" bIns="0" rtlCol="0" anchor="ctr"/>
          <a:lstStyle/>
          <a:p>
            <a:pPr indent="0" marL="0">
              <a:buNone/>
            </a:pPr>
            <a:r>
              <a:rPr lang="en-US" sz="1700" b="1" dirty="0">
                <a:solidFill>
                  <a:srgbClr val="111827"/>
                </a:solidFill>
                <a:latin typeface="Arial" pitchFamily="34" charset="0"/>
                <a:ea typeface="Arial" pitchFamily="34" charset="-122"/>
                <a:cs typeface="Arial" pitchFamily="34" charset="-120"/>
              </a:rPr>
              <a:t>The model imitates a rule engine</a:t>
            </a:r>
            <a:endParaRPr lang="en-US" sz="1700" dirty="0"/>
          </a:p>
        </p:txBody>
      </p:sp>
      <p:sp>
        <p:nvSpPr>
          <p:cNvPr id="12" name="Text 10"/>
          <p:cNvSpPr/>
          <p:nvPr/>
        </p:nvSpPr>
        <p:spPr>
          <a:xfrm>
            <a:off x="868680" y="4498848"/>
            <a:ext cx="10515600" cy="54864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It reproduces hand-written rules at 96.7 per cent. That is compression of an explicit policy into 1,161 parameters — a genuine TinyML result, but not autonomous discovery of teaching strategy.</a:t>
            </a:r>
            <a:endParaRPr lang="en-US" sz="1300" dirty="0"/>
          </a:p>
        </p:txBody>
      </p:sp>
      <p:sp>
        <p:nvSpPr>
          <p:cNvPr id="13" name="Shape 11"/>
          <p:cNvSpPr/>
          <p:nvPr/>
        </p:nvSpPr>
        <p:spPr>
          <a:xfrm>
            <a:off x="640080" y="5276088"/>
            <a:ext cx="10972800" cy="1051560"/>
          </a:xfrm>
          <a:prstGeom prst="roundRect">
            <a:avLst>
              <a:gd name="adj" fmla="val 6957"/>
            </a:avLst>
          </a:prstGeom>
          <a:solidFill>
            <a:srgbClr val="FFFFFF"/>
          </a:solidFill>
          <a:ln w="22225">
            <a:solidFill>
              <a:srgbClr val="DC2626"/>
            </a:solidFill>
            <a:prstDash val="solid"/>
          </a:ln>
        </p:spPr>
      </p:sp>
      <p:sp>
        <p:nvSpPr>
          <p:cNvPr id="14" name="Text 12"/>
          <p:cNvSpPr/>
          <p:nvPr/>
        </p:nvSpPr>
        <p:spPr>
          <a:xfrm>
            <a:off x="868680" y="5394960"/>
            <a:ext cx="10515600" cy="320040"/>
          </a:xfrm>
          <a:prstGeom prst="rect">
            <a:avLst/>
          </a:prstGeom>
          <a:noFill/>
          <a:ln/>
        </p:spPr>
        <p:txBody>
          <a:bodyPr wrap="square" lIns="0" tIns="0" rIns="0" bIns="0" rtlCol="0" anchor="ctr"/>
          <a:lstStyle/>
          <a:p>
            <a:pPr indent="0" marL="0">
              <a:buNone/>
            </a:pPr>
            <a:r>
              <a:rPr lang="en-US" sz="1700" b="1" dirty="0">
                <a:solidFill>
                  <a:srgbClr val="111827"/>
                </a:solidFill>
                <a:latin typeface="Arial" pitchFamily="34" charset="0"/>
                <a:ea typeface="Arial" pitchFamily="34" charset="-122"/>
                <a:cs typeface="Arial" pitchFamily="34" charset="-120"/>
              </a:rPr>
              <a:t>The hardware has never been assembled</a:t>
            </a:r>
            <a:endParaRPr lang="en-US" sz="1700" dirty="0"/>
          </a:p>
        </p:txBody>
      </p:sp>
      <p:sp>
        <p:nvSpPr>
          <p:cNvPr id="15" name="Text 13"/>
          <p:cNvSpPr/>
          <p:nvPr/>
        </p:nvSpPr>
        <p:spPr>
          <a:xfrm>
            <a:off x="868680" y="5733288"/>
            <a:ext cx="10515600" cy="54864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The firmware is written and its generated headers compile and self-check, but no physical device exists. Nothing has run on real silicon.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502920"/>
          </a:xfrm>
          <a:prstGeom prst="rect">
            <a:avLst/>
          </a:prstGeom>
          <a:noFill/>
          <a:ln/>
        </p:spPr>
        <p:txBody>
          <a:bodyPr wrap="square" lIns="0" tIns="0" rIns="0" bIns="0" rtlCol="0" anchor="ctr"/>
          <a:lstStyle/>
          <a:p>
            <a:pPr indent="0" marL="0">
              <a:buNone/>
            </a:pPr>
            <a:r>
              <a:rPr lang="en-US" sz="3400" b="1" dirty="0">
                <a:solidFill>
                  <a:srgbClr val="111827"/>
                </a:solidFill>
                <a:latin typeface="Arial" pitchFamily="34" charset="0"/>
                <a:ea typeface="Arial" pitchFamily="34" charset="-122"/>
                <a:cs typeface="Arial" pitchFamily="34" charset="-120"/>
              </a:rPr>
              <a:t>What happens next</a:t>
            </a:r>
            <a:endParaRPr lang="en-US" sz="3400" dirty="0"/>
          </a:p>
        </p:txBody>
      </p:sp>
      <p:sp>
        <p:nvSpPr>
          <p:cNvPr id="3" name="Text 1"/>
          <p:cNvSpPr/>
          <p:nvPr/>
        </p:nvSpPr>
        <p:spPr>
          <a:xfrm>
            <a:off x="640080" y="987552"/>
            <a:ext cx="10972800" cy="365760"/>
          </a:xfrm>
          <a:prstGeom prst="rect">
            <a:avLst/>
          </a:prstGeom>
          <a:noFill/>
          <a:ln/>
        </p:spPr>
        <p:txBody>
          <a:bodyPr wrap="square" lIns="0" tIns="0" rIns="0" bIns="0" rtlCol="0" anchor="ctr"/>
          <a:lstStyle/>
          <a:p>
            <a:pPr indent="0" marL="0">
              <a:buNone/>
            </a:pPr>
            <a:r>
              <a:rPr lang="en-US" sz="1600" dirty="0">
                <a:solidFill>
                  <a:srgbClr val="6B7280"/>
                </a:solidFill>
                <a:latin typeface="Arial" pitchFamily="34" charset="0"/>
                <a:ea typeface="Arial" pitchFamily="34" charset="-122"/>
                <a:cs typeface="Arial" pitchFamily="34" charset="-120"/>
              </a:rPr>
              <a:t>One task is on the critical path. Everything else runs in parallel.</a:t>
            </a:r>
            <a:endParaRPr lang="en-US" sz="1600" dirty="0"/>
          </a:p>
        </p:txBody>
      </p:sp>
      <p:sp>
        <p:nvSpPr>
          <p:cNvPr id="4" name="Shape 2"/>
          <p:cNvSpPr/>
          <p:nvPr/>
        </p:nvSpPr>
        <p:spPr>
          <a:xfrm>
            <a:off x="640080" y="1554480"/>
            <a:ext cx="10972800" cy="1371600"/>
          </a:xfrm>
          <a:prstGeom prst="roundRect">
            <a:avLst>
              <a:gd name="adj" fmla="val 6667"/>
            </a:avLst>
          </a:prstGeom>
          <a:solidFill>
            <a:srgbClr val="FFFFFF"/>
          </a:solidFill>
          <a:ln w="31750">
            <a:solidFill>
              <a:srgbClr val="DC2626"/>
            </a:solidFill>
            <a:prstDash val="solid"/>
          </a:ln>
        </p:spPr>
      </p:sp>
      <p:sp>
        <p:nvSpPr>
          <p:cNvPr id="5" name="Text 3"/>
          <p:cNvSpPr/>
          <p:nvPr/>
        </p:nvSpPr>
        <p:spPr>
          <a:xfrm>
            <a:off x="868680" y="1691640"/>
            <a:ext cx="10515600" cy="274320"/>
          </a:xfrm>
          <a:prstGeom prst="rect">
            <a:avLst/>
          </a:prstGeom>
          <a:noFill/>
          <a:ln/>
        </p:spPr>
        <p:txBody>
          <a:bodyPr wrap="square" lIns="0" tIns="0" rIns="0" bIns="0" rtlCol="0" anchor="ctr"/>
          <a:lstStyle/>
          <a:p>
            <a:pPr indent="0" marL="0">
              <a:buNone/>
            </a:pPr>
            <a:r>
              <a:rPr lang="en-US" sz="1300" b="1" dirty="0">
                <a:solidFill>
                  <a:srgbClr val="DC2626"/>
                </a:solidFill>
                <a:latin typeface="Arial" pitchFamily="34" charset="0"/>
                <a:ea typeface="Arial" pitchFamily="34" charset="-122"/>
                <a:cs typeface="Arial" pitchFamily="34" charset="-120"/>
              </a:rPr>
              <a:t>CRITICAL PATH  ·  start today</a:t>
            </a:r>
            <a:endParaRPr lang="en-US" sz="1300" dirty="0"/>
          </a:p>
        </p:txBody>
      </p:sp>
      <p:sp>
        <p:nvSpPr>
          <p:cNvPr id="6" name="Text 4"/>
          <p:cNvSpPr/>
          <p:nvPr/>
        </p:nvSpPr>
        <p:spPr>
          <a:xfrm>
            <a:off x="868680" y="1984248"/>
            <a:ext cx="10515600" cy="384048"/>
          </a:xfrm>
          <a:prstGeom prst="rect">
            <a:avLst/>
          </a:prstGeom>
          <a:noFill/>
          <a:ln/>
        </p:spPr>
        <p:txBody>
          <a:bodyPr wrap="square" lIns="0" tIns="0" rIns="0" bIns="0" rtlCol="0" anchor="ctr"/>
          <a:lstStyle/>
          <a:p>
            <a:pPr indent="0" marL="0">
              <a:buNone/>
            </a:pPr>
            <a:r>
              <a:rPr lang="en-US" sz="2200" b="1" dirty="0">
                <a:solidFill>
                  <a:srgbClr val="111827"/>
                </a:solidFill>
                <a:latin typeface="Arial" pitchFamily="34" charset="0"/>
                <a:ea typeface="Arial" pitchFamily="34" charset="-122"/>
                <a:cs typeface="Arial" pitchFamily="34" charset="-120"/>
              </a:rPr>
              <a:t>Collect real learner data</a:t>
            </a:r>
            <a:endParaRPr lang="en-US" sz="2200" dirty="0"/>
          </a:p>
        </p:txBody>
      </p:sp>
      <p:sp>
        <p:nvSpPr>
          <p:cNvPr id="7" name="Text 5"/>
          <p:cNvSpPr/>
          <p:nvPr/>
        </p:nvSpPr>
        <p:spPr>
          <a:xfrm>
            <a:off x="868680" y="2395728"/>
            <a:ext cx="10515600" cy="45720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Each learner must practise on DIFFERENT DAYS. Two of the 14 features — session number and time since last practice — carry no signal at all if every session happens in one sitting. This is calendar time, and no amount of effort compresses it.</a:t>
            </a:r>
            <a:endParaRPr lang="en-US" sz="1300" dirty="0"/>
          </a:p>
        </p:txBody>
      </p:sp>
      <p:sp>
        <p:nvSpPr>
          <p:cNvPr id="8" name="Text 6"/>
          <p:cNvSpPr/>
          <p:nvPr/>
        </p:nvSpPr>
        <p:spPr>
          <a:xfrm>
            <a:off x="640080" y="3154680"/>
            <a:ext cx="10972800" cy="274320"/>
          </a:xfrm>
          <a:prstGeom prst="rect">
            <a:avLst/>
          </a:prstGeom>
          <a:noFill/>
          <a:ln/>
        </p:spPr>
        <p:txBody>
          <a:bodyPr wrap="square" lIns="0" tIns="0" rIns="0" bIns="0" rtlCol="0" anchor="ctr"/>
          <a:lstStyle/>
          <a:p>
            <a:pPr indent="0" marL="0">
              <a:buNone/>
            </a:pPr>
            <a:r>
              <a:rPr lang="en-US" sz="1300" b="1" dirty="0">
                <a:solidFill>
                  <a:srgbClr val="6B7280"/>
                </a:solidFill>
                <a:latin typeface="Arial" pitchFamily="34" charset="0"/>
                <a:ea typeface="Arial" pitchFamily="34" charset="-122"/>
                <a:cs typeface="Arial" pitchFamily="34" charset="-120"/>
              </a:rPr>
              <a:t>IN PARALLEL</a:t>
            </a:r>
            <a:endParaRPr lang="en-US" sz="1300" dirty="0"/>
          </a:p>
        </p:txBody>
      </p:sp>
      <p:sp>
        <p:nvSpPr>
          <p:cNvPr id="9" name="Shape 7"/>
          <p:cNvSpPr/>
          <p:nvPr/>
        </p:nvSpPr>
        <p:spPr>
          <a:xfrm>
            <a:off x="640080" y="3520440"/>
            <a:ext cx="5349240" cy="1051560"/>
          </a:xfrm>
          <a:prstGeom prst="roundRect">
            <a:avLst>
              <a:gd name="adj" fmla="val 6957"/>
            </a:avLst>
          </a:prstGeom>
          <a:solidFill>
            <a:srgbClr val="FFFFFF"/>
          </a:solidFill>
          <a:ln w="22225">
            <a:solidFill>
              <a:srgbClr val="7C3AED"/>
            </a:solidFill>
            <a:prstDash val="solid"/>
          </a:ln>
        </p:spPr>
      </p:sp>
      <p:sp>
        <p:nvSpPr>
          <p:cNvPr id="10" name="Text 8"/>
          <p:cNvSpPr/>
          <p:nvPr/>
        </p:nvSpPr>
        <p:spPr>
          <a:xfrm>
            <a:off x="868680" y="3648456"/>
            <a:ext cx="4892040" cy="320040"/>
          </a:xfrm>
          <a:prstGeom prst="rect">
            <a:avLst/>
          </a:prstGeom>
          <a:noFill/>
          <a:ln/>
        </p:spPr>
        <p:txBody>
          <a:bodyPr wrap="square" lIns="0" tIns="0" rIns="0" bIns="0" rtlCol="0" anchor="ctr"/>
          <a:lstStyle/>
          <a:p>
            <a:pPr indent="0" marL="0">
              <a:buNone/>
            </a:pPr>
            <a:r>
              <a:rPr lang="en-US" sz="1600" b="1" dirty="0">
                <a:solidFill>
                  <a:srgbClr val="111827"/>
                </a:solidFill>
                <a:latin typeface="Arial" pitchFamily="34" charset="0"/>
                <a:ea typeface="Arial" pitchFamily="34" charset="-122"/>
                <a:cs typeface="Arial" pitchFamily="34" charset="-120"/>
              </a:rPr>
              <a:t>Supply 39 consonant images</a:t>
            </a:r>
            <a:endParaRPr lang="en-US" sz="1600" dirty="0"/>
          </a:p>
        </p:txBody>
      </p:sp>
      <p:sp>
        <p:nvSpPr>
          <p:cNvPr id="11" name="Text 9"/>
          <p:cNvSpPr/>
          <p:nvPr/>
        </p:nvSpPr>
        <p:spPr>
          <a:xfrm>
            <a:off x="868680" y="3995928"/>
            <a:ext cx="4892040" cy="502920"/>
          </a:xfrm>
          <a:prstGeom prst="rect">
            <a:avLst/>
          </a:prstGeom>
          <a:noFill/>
          <a:ln/>
        </p:spPr>
        <p:txBody>
          <a:bodyPr wrap="square" lIns="0" tIns="0" rIns="0" bIns="0" rtlCol="0" anchor="ctr"/>
          <a:lstStyle/>
          <a:p>
            <a:pPr indent="0" marL="0">
              <a:buNone/>
            </a:pPr>
            <a:r>
              <a:rPr lang="en-US" sz="1250" dirty="0">
                <a:solidFill>
                  <a:srgbClr val="6B7280"/>
                </a:solidFill>
                <a:latin typeface="Arial" pitchFamily="34" charset="0"/>
                <a:ea typeface="Arial" pitchFamily="34" charset="-122"/>
                <a:cs typeface="Arial" pitchFamily="34" charset="-120"/>
              </a:rPr>
              <a:t>Drop them in, run one command. Fixes the remaining Braille patterns.</a:t>
            </a:r>
            <a:endParaRPr lang="en-US" sz="1250" dirty="0"/>
          </a:p>
        </p:txBody>
      </p:sp>
      <p:sp>
        <p:nvSpPr>
          <p:cNvPr id="12" name="Shape 10"/>
          <p:cNvSpPr/>
          <p:nvPr/>
        </p:nvSpPr>
        <p:spPr>
          <a:xfrm>
            <a:off x="6263640" y="3520440"/>
            <a:ext cx="5349240" cy="1051560"/>
          </a:xfrm>
          <a:prstGeom prst="roundRect">
            <a:avLst>
              <a:gd name="adj" fmla="val 6957"/>
            </a:avLst>
          </a:prstGeom>
          <a:solidFill>
            <a:srgbClr val="FFFFFF"/>
          </a:solidFill>
          <a:ln w="22225">
            <a:solidFill>
              <a:srgbClr val="EA580C"/>
            </a:solidFill>
            <a:prstDash val="solid"/>
          </a:ln>
        </p:spPr>
      </p:sp>
      <p:sp>
        <p:nvSpPr>
          <p:cNvPr id="13" name="Text 11"/>
          <p:cNvSpPr/>
          <p:nvPr/>
        </p:nvSpPr>
        <p:spPr>
          <a:xfrm>
            <a:off x="6492240" y="3648456"/>
            <a:ext cx="4892040" cy="320040"/>
          </a:xfrm>
          <a:prstGeom prst="rect">
            <a:avLst/>
          </a:prstGeom>
          <a:noFill/>
          <a:ln/>
        </p:spPr>
        <p:txBody>
          <a:bodyPr wrap="square" lIns="0" tIns="0" rIns="0" bIns="0" rtlCol="0" anchor="ctr"/>
          <a:lstStyle/>
          <a:p>
            <a:pPr indent="0" marL="0">
              <a:buNone/>
            </a:pPr>
            <a:r>
              <a:rPr lang="en-US" sz="1600" b="1" dirty="0">
                <a:solidFill>
                  <a:srgbClr val="111827"/>
                </a:solidFill>
                <a:latin typeface="Arial" pitchFamily="34" charset="0"/>
                <a:ea typeface="Arial" pitchFamily="34" charset="-122"/>
                <a:cs typeface="Arial" pitchFamily="34" charset="-120"/>
              </a:rPr>
              <a:t>Order and assemble hardware</a:t>
            </a:r>
            <a:endParaRPr lang="en-US" sz="1600" dirty="0"/>
          </a:p>
        </p:txBody>
      </p:sp>
      <p:sp>
        <p:nvSpPr>
          <p:cNvPr id="14" name="Text 12"/>
          <p:cNvSpPr/>
          <p:nvPr/>
        </p:nvSpPr>
        <p:spPr>
          <a:xfrm>
            <a:off x="6492240" y="3995928"/>
            <a:ext cx="4892040" cy="502920"/>
          </a:xfrm>
          <a:prstGeom prst="rect">
            <a:avLst/>
          </a:prstGeom>
          <a:noFill/>
          <a:ln/>
        </p:spPr>
        <p:txBody>
          <a:bodyPr wrap="square" lIns="0" tIns="0" rIns="0" bIns="0" rtlCol="0" anchor="ctr"/>
          <a:lstStyle/>
          <a:p>
            <a:pPr indent="0" marL="0">
              <a:buNone/>
            </a:pPr>
            <a:r>
              <a:rPr lang="en-US" sz="1250" dirty="0">
                <a:solidFill>
                  <a:srgbClr val="6B7280"/>
                </a:solidFill>
                <a:latin typeface="Arial" pitchFamily="34" charset="0"/>
                <a:ea typeface="Arial" pitchFamily="34" charset="-122"/>
                <a:cs typeface="Arial" pitchFamily="34" charset="-120"/>
              </a:rPr>
              <a:t>Work through the six bring-up sketches, one peripheral at a time.</a:t>
            </a:r>
            <a:endParaRPr lang="en-US" sz="1250" dirty="0"/>
          </a:p>
        </p:txBody>
      </p:sp>
      <p:sp>
        <p:nvSpPr>
          <p:cNvPr id="15" name="Shape 13"/>
          <p:cNvSpPr/>
          <p:nvPr/>
        </p:nvSpPr>
        <p:spPr>
          <a:xfrm>
            <a:off x="640080" y="4754880"/>
            <a:ext cx="5349240" cy="1051560"/>
          </a:xfrm>
          <a:prstGeom prst="roundRect">
            <a:avLst>
              <a:gd name="adj" fmla="val 6957"/>
            </a:avLst>
          </a:prstGeom>
          <a:solidFill>
            <a:srgbClr val="FFFFFF"/>
          </a:solidFill>
          <a:ln w="22225">
            <a:solidFill>
              <a:srgbClr val="DB2777"/>
            </a:solidFill>
            <a:prstDash val="solid"/>
          </a:ln>
        </p:spPr>
      </p:sp>
      <p:sp>
        <p:nvSpPr>
          <p:cNvPr id="16" name="Text 14"/>
          <p:cNvSpPr/>
          <p:nvPr/>
        </p:nvSpPr>
        <p:spPr>
          <a:xfrm>
            <a:off x="868680" y="4882896"/>
            <a:ext cx="4892040" cy="320040"/>
          </a:xfrm>
          <a:prstGeom prst="rect">
            <a:avLst/>
          </a:prstGeom>
          <a:noFill/>
          <a:ln/>
        </p:spPr>
        <p:txBody>
          <a:bodyPr wrap="square" lIns="0" tIns="0" rIns="0" bIns="0" rtlCol="0" anchor="ctr"/>
          <a:lstStyle/>
          <a:p>
            <a:pPr indent="0" marL="0">
              <a:buNone/>
            </a:pPr>
            <a:r>
              <a:rPr lang="en-US" sz="1600" b="1" dirty="0">
                <a:solidFill>
                  <a:srgbClr val="111827"/>
                </a:solidFill>
                <a:latin typeface="Arial" pitchFamily="34" charset="0"/>
                <a:ea typeface="Arial" pitchFamily="34" charset="-122"/>
                <a:cs typeface="Arial" pitchFamily="34" charset="-120"/>
              </a:rPr>
              <a:t>Re-record the audio</a:t>
            </a:r>
            <a:endParaRPr lang="en-US" sz="1600" dirty="0"/>
          </a:p>
        </p:txBody>
      </p:sp>
      <p:sp>
        <p:nvSpPr>
          <p:cNvPr id="17" name="Text 15"/>
          <p:cNvSpPr/>
          <p:nvPr/>
        </p:nvSpPr>
        <p:spPr>
          <a:xfrm>
            <a:off x="868680" y="5230368"/>
            <a:ext cx="4892040" cy="502920"/>
          </a:xfrm>
          <a:prstGeom prst="rect">
            <a:avLst/>
          </a:prstGeom>
          <a:noFill/>
          <a:ln/>
        </p:spPr>
        <p:txBody>
          <a:bodyPr wrap="square" lIns="0" tIns="0" rIns="0" bIns="0" rtlCol="0" anchor="ctr"/>
          <a:lstStyle/>
          <a:p>
            <a:pPr indent="0" marL="0">
              <a:buNone/>
            </a:pPr>
            <a:r>
              <a:rPr lang="en-US" sz="1250" dirty="0">
                <a:solidFill>
                  <a:srgbClr val="6B7280"/>
                </a:solidFill>
                <a:latin typeface="Arial" pitchFamily="34" charset="0"/>
                <a:ea typeface="Arial" pitchFamily="34" charset="-122"/>
                <a:cs typeface="Arial" pitchFamily="34" charset="-120"/>
              </a:rPr>
              <a:t>Replace synthetic speech with a human voice. Same filenames, drop-in.</a:t>
            </a:r>
            <a:endParaRPr lang="en-US" sz="1250" dirty="0"/>
          </a:p>
        </p:txBody>
      </p:sp>
      <p:sp>
        <p:nvSpPr>
          <p:cNvPr id="18" name="Shape 16"/>
          <p:cNvSpPr/>
          <p:nvPr/>
        </p:nvSpPr>
        <p:spPr>
          <a:xfrm>
            <a:off x="6263640" y="4754880"/>
            <a:ext cx="5349240" cy="1051560"/>
          </a:xfrm>
          <a:prstGeom prst="roundRect">
            <a:avLst>
              <a:gd name="adj" fmla="val 6957"/>
            </a:avLst>
          </a:prstGeom>
          <a:solidFill>
            <a:srgbClr val="FFFFFF"/>
          </a:solidFill>
          <a:ln w="22225">
            <a:solidFill>
              <a:srgbClr val="0D9488"/>
            </a:solidFill>
            <a:prstDash val="solid"/>
          </a:ln>
        </p:spPr>
      </p:sp>
      <p:sp>
        <p:nvSpPr>
          <p:cNvPr id="19" name="Text 17"/>
          <p:cNvSpPr/>
          <p:nvPr/>
        </p:nvSpPr>
        <p:spPr>
          <a:xfrm>
            <a:off x="6492240" y="4882896"/>
            <a:ext cx="4892040" cy="320040"/>
          </a:xfrm>
          <a:prstGeom prst="rect">
            <a:avLst/>
          </a:prstGeom>
          <a:noFill/>
          <a:ln/>
        </p:spPr>
        <p:txBody>
          <a:bodyPr wrap="square" lIns="0" tIns="0" rIns="0" bIns="0" rtlCol="0" anchor="ctr"/>
          <a:lstStyle/>
          <a:p>
            <a:pPr indent="0" marL="0">
              <a:buNone/>
            </a:pPr>
            <a:r>
              <a:rPr lang="en-US" sz="1600" b="1" dirty="0">
                <a:solidFill>
                  <a:srgbClr val="111827"/>
                </a:solidFill>
                <a:latin typeface="Arial" pitchFamily="34" charset="0"/>
                <a:ea typeface="Arial" pitchFamily="34" charset="-122"/>
                <a:cs typeface="Arial" pitchFamily="34" charset="-120"/>
              </a:rPr>
              <a:t>Retrain on real data</a:t>
            </a:r>
            <a:endParaRPr lang="en-US" sz="1600" dirty="0"/>
          </a:p>
        </p:txBody>
      </p:sp>
      <p:sp>
        <p:nvSpPr>
          <p:cNvPr id="20" name="Text 18"/>
          <p:cNvSpPr/>
          <p:nvPr/>
        </p:nvSpPr>
        <p:spPr>
          <a:xfrm>
            <a:off x="6492240" y="5230368"/>
            <a:ext cx="4892040" cy="502920"/>
          </a:xfrm>
          <a:prstGeom prst="rect">
            <a:avLst/>
          </a:prstGeom>
          <a:noFill/>
          <a:ln/>
        </p:spPr>
        <p:txBody>
          <a:bodyPr wrap="square" lIns="0" tIns="0" rIns="0" bIns="0" rtlCol="0" anchor="ctr"/>
          <a:lstStyle/>
          <a:p>
            <a:pPr indent="0" marL="0">
              <a:buNone/>
            </a:pPr>
            <a:r>
              <a:rPr lang="en-US" sz="1250" dirty="0">
                <a:solidFill>
                  <a:srgbClr val="6B7280"/>
                </a:solidFill>
                <a:latin typeface="Arial" pitchFamily="34" charset="0"/>
                <a:ea typeface="Arial" pitchFamily="34" charset="-122"/>
                <a:cs typeface="Arial" pitchFamily="34" charset="-120"/>
              </a:rPr>
              <a:t>One day of work once the sessions exist. Then reflash the device.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AI-Assisted Bangla Braille Tutor</dc:title>
  <dc:subject>PptxGenJS Presentation</dc:subject>
  <dc:creator>EEE 416 Project</dc:creator>
  <cp:lastModifiedBy>EEE 416 Project</cp:lastModifiedBy>
  <cp:revision>1</cp:revision>
  <dcterms:created xsi:type="dcterms:W3CDTF">2026-07-31T11:45:29Z</dcterms:created>
  <dcterms:modified xsi:type="dcterms:W3CDTF">2026-07-31T11:45:29Z</dcterms:modified>
</cp:coreProperties>
</file>